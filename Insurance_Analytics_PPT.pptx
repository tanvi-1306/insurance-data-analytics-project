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9" r:id="rId7"/>
    <p:sldId id="270" r:id="rId8"/>
    <p:sldId id="271" r:id="rId9"/>
    <p:sldId id="262" r:id="rId10"/>
    <p:sldId id="263" r:id="rId11"/>
    <p:sldId id="264" r:id="rId12"/>
    <p:sldId id="267" r:id="rId13"/>
    <p:sldId id="268" r:id="rId14"/>
    <p:sldId id="26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1" d="100"/>
          <a:sy n="61" d="100"/>
        </p:scale>
        <p:origin x="10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78ACC-22D6-47C1-A373-4FD133E34F3C}" type="datetimeFigureOut">
              <a:rPr lang="en-US" dirty="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4/22/2025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4/22/2025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4/22/2025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3EFA5E-FA76-400D-B3DC-F0BA90E6D107}" type="datetimeFigureOut">
              <a:rPr lang="en-US" dirty="0"/>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6C117F-5CCF-4837-BE5F-2B92066CAFAF}" type="datetimeFigureOut">
              <a:rPr lang="en-US" dirty="0"/>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EB90BD-B6CE-46B7-997F-7313B992CCDC}" type="datetimeFigureOut">
              <a:rPr lang="en-US" dirty="0"/>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B9D11F-B188-461D-B23F-39381795C052}" type="datetimeFigureOut">
              <a:rPr lang="en-US" dirty="0"/>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E6D8D9-55A2-4063-B0F3-121F44549695}" type="datetimeFigureOut">
              <a:rPr lang="en-US" dirty="0"/>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4B24536-994D-4021-A283-9F449C0DB509}" type="datetimeFigureOut">
              <a:rPr lang="en-US" dirty="0"/>
              <a:t>4/22/2025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BBBB78-C96F-47B7-AB17-D852CA960AC9}" type="datetimeFigureOut">
              <a:rPr lang="en-US" dirty="0"/>
              <a:t>4/22/2025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4/22/2025</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4/22/2025</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 Id="rId5" Type="http://schemas.openxmlformats.org/officeDocument/2006/relationships/image" Target="../media/image6.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32D84-A403-2E8E-9B80-0097CD22B98E}"/>
              </a:ext>
            </a:extLst>
          </p:cNvPr>
          <p:cNvSpPr>
            <a:spLocks noGrp="1"/>
          </p:cNvSpPr>
          <p:nvPr>
            <p:ph type="ctrTitle"/>
          </p:nvPr>
        </p:nvSpPr>
        <p:spPr/>
        <p:txBody>
          <a:bodyPr/>
          <a:lstStyle/>
          <a:p>
            <a:r>
              <a:rPr lang="en-US" dirty="0"/>
              <a:t>Insurance Analytics</a:t>
            </a:r>
            <a:endParaRPr lang="en-IN" dirty="0"/>
          </a:p>
        </p:txBody>
      </p:sp>
      <p:sp>
        <p:nvSpPr>
          <p:cNvPr id="3" name="Subtitle 2">
            <a:extLst>
              <a:ext uri="{FF2B5EF4-FFF2-40B4-BE49-F238E27FC236}">
                <a16:creationId xmlns:a16="http://schemas.microsoft.com/office/drawing/2014/main" id="{DD0DF225-5622-350F-1805-A18F5B0A0343}"/>
              </a:ext>
            </a:extLst>
          </p:cNvPr>
          <p:cNvSpPr>
            <a:spLocks noGrp="1"/>
          </p:cNvSpPr>
          <p:nvPr>
            <p:ph type="subTitle" idx="1"/>
          </p:nvPr>
        </p:nvSpPr>
        <p:spPr>
          <a:xfrm>
            <a:off x="126124" y="4394039"/>
            <a:ext cx="8698332" cy="2243244"/>
          </a:xfrm>
        </p:spPr>
        <p:txBody>
          <a:bodyPr>
            <a:normAutofit lnSpcReduction="10000"/>
          </a:bodyPr>
          <a:lstStyle/>
          <a:p>
            <a:pPr algn="l"/>
            <a:r>
              <a:rPr lang="en-IN" sz="3200" dirty="0">
                <a:latin typeface="Times New Roman" panose="02020603050405020304" pitchFamily="18" charset="0"/>
                <a:cs typeface="Times New Roman" panose="02020603050405020304" pitchFamily="18" charset="0"/>
              </a:rPr>
              <a:t>Presentation By GROUP-06 :-</a:t>
            </a:r>
            <a:endParaRPr lang="en-IN"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IN" sz="2200" b="0" i="0" dirty="0">
                <a:effectLst/>
                <a:latin typeface="Times New Roman" panose="02020603050405020304" pitchFamily="18" charset="0"/>
                <a:cs typeface="Times New Roman" panose="02020603050405020304" pitchFamily="18" charset="0"/>
              </a:rPr>
              <a:t>Kunal </a:t>
            </a:r>
            <a:r>
              <a:rPr lang="en-IN" sz="2200" b="0" i="0" dirty="0" err="1">
                <a:effectLst/>
                <a:latin typeface="Times New Roman" panose="02020603050405020304" pitchFamily="18" charset="0"/>
                <a:cs typeface="Times New Roman" panose="02020603050405020304" pitchFamily="18" charset="0"/>
              </a:rPr>
              <a:t>Bhanjdeo</a:t>
            </a:r>
            <a:endParaRPr lang="en-IN" sz="2200" b="0" i="0" dirty="0">
              <a:effectLst/>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IN" sz="2200" b="0" i="0" dirty="0">
                <a:effectLst/>
                <a:latin typeface="Times New Roman" panose="02020603050405020304" pitchFamily="18" charset="0"/>
                <a:cs typeface="Times New Roman" panose="02020603050405020304" pitchFamily="18" charset="0"/>
              </a:rPr>
              <a:t>Madhura R Malapur</a:t>
            </a:r>
          </a:p>
          <a:p>
            <a:pPr marL="342900" indent="-342900" algn="l">
              <a:buFont typeface="Arial" panose="020B0604020202020204" pitchFamily="34" charset="0"/>
              <a:buChar char="•"/>
            </a:pPr>
            <a:r>
              <a:rPr lang="en-IN" sz="2200" b="0" i="0" dirty="0">
                <a:effectLst/>
                <a:latin typeface="Times New Roman" panose="02020603050405020304" pitchFamily="18" charset="0"/>
                <a:cs typeface="Times New Roman" panose="02020603050405020304" pitchFamily="18" charset="0"/>
              </a:rPr>
              <a:t>Santanu Choudhury</a:t>
            </a:r>
          </a:p>
          <a:p>
            <a:pPr marL="342900" indent="-342900" algn="l">
              <a:buFont typeface="Arial" panose="020B0604020202020204" pitchFamily="34" charset="0"/>
              <a:buChar char="•"/>
            </a:pPr>
            <a:r>
              <a:rPr lang="en-IN" sz="2200" b="0" i="0" dirty="0">
                <a:effectLst/>
                <a:latin typeface="Times New Roman" panose="02020603050405020304" pitchFamily="18" charset="0"/>
                <a:cs typeface="Times New Roman" panose="02020603050405020304" pitchFamily="18" charset="0"/>
              </a:rPr>
              <a:t>Thota Venkata Pavani</a:t>
            </a:r>
            <a:endParaRPr lang="en-IN" sz="2200" dirty="0">
              <a:latin typeface="Times New Roman" panose="02020603050405020304" pitchFamily="18" charset="0"/>
              <a:cs typeface="Times New Roman" panose="02020603050405020304" pitchFamily="18" charset="0"/>
            </a:endParaRPr>
          </a:p>
          <a:p>
            <a:pPr algn="l"/>
            <a:endParaRPr lang="en-IN" dirty="0"/>
          </a:p>
        </p:txBody>
      </p:sp>
      <p:pic>
        <p:nvPicPr>
          <p:cNvPr id="5" name="Picture 4">
            <a:extLst>
              <a:ext uri="{FF2B5EF4-FFF2-40B4-BE49-F238E27FC236}">
                <a16:creationId xmlns:a16="http://schemas.microsoft.com/office/drawing/2014/main" id="{96618767-D470-74D7-30CC-B36E7413724C}"/>
              </a:ext>
            </a:extLst>
          </p:cNvPr>
          <p:cNvPicPr>
            <a:picLocks noChangeAspect="1"/>
          </p:cNvPicPr>
          <p:nvPr/>
        </p:nvPicPr>
        <p:blipFill>
          <a:blip r:embed="rId2"/>
          <a:stretch>
            <a:fillRect/>
          </a:stretch>
        </p:blipFill>
        <p:spPr>
          <a:xfrm>
            <a:off x="0" y="2601310"/>
            <a:ext cx="2619375" cy="1623849"/>
          </a:xfrm>
          <a:prstGeom prst="rect">
            <a:avLst/>
          </a:prstGeom>
        </p:spPr>
      </p:pic>
      <p:pic>
        <p:nvPicPr>
          <p:cNvPr id="6" name="Picture 5">
            <a:extLst>
              <a:ext uri="{FF2B5EF4-FFF2-40B4-BE49-F238E27FC236}">
                <a16:creationId xmlns:a16="http://schemas.microsoft.com/office/drawing/2014/main" id="{6FF7F1B1-306E-F4ED-49FF-FA67DE6DABC7}"/>
              </a:ext>
            </a:extLst>
          </p:cNvPr>
          <p:cNvPicPr>
            <a:picLocks noChangeAspect="1"/>
          </p:cNvPicPr>
          <p:nvPr/>
        </p:nvPicPr>
        <p:blipFill>
          <a:blip r:embed="rId3"/>
          <a:stretch>
            <a:fillRect/>
          </a:stretch>
        </p:blipFill>
        <p:spPr>
          <a:xfrm>
            <a:off x="9002111" y="2049517"/>
            <a:ext cx="3189889" cy="2629262"/>
          </a:xfrm>
          <a:prstGeom prst="rect">
            <a:avLst/>
          </a:prstGeom>
        </p:spPr>
      </p:pic>
    </p:spTree>
    <p:extLst>
      <p:ext uri="{BB962C8B-B14F-4D97-AF65-F5344CB8AC3E}">
        <p14:creationId xmlns:p14="http://schemas.microsoft.com/office/powerpoint/2010/main" val="3817897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B8B67-5C67-AD89-9B42-346A1980B70D}"/>
              </a:ext>
            </a:extLst>
          </p:cNvPr>
          <p:cNvSpPr>
            <a:spLocks noGrp="1"/>
          </p:cNvSpPr>
          <p:nvPr>
            <p:ph type="title"/>
          </p:nvPr>
        </p:nvSpPr>
        <p:spPr/>
        <p:txBody>
          <a:bodyPr>
            <a:normAutofit/>
          </a:bodyPr>
          <a:lstStyle/>
          <a:p>
            <a:r>
              <a:rPr lang="en-US" sz="4800" dirty="0">
                <a:latin typeface="Times New Roman" panose="02020603050405020304" pitchFamily="18" charset="0"/>
                <a:cs typeface="Times New Roman" panose="02020603050405020304" pitchFamily="18" charset="0"/>
              </a:rPr>
              <a:t>Introduction:</a:t>
            </a:r>
            <a:endParaRPr lang="en-IN"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70428F3-5DFE-1C1F-F827-128A5D10F501}"/>
              </a:ext>
            </a:extLst>
          </p:cNvPr>
          <p:cNvSpPr>
            <a:spLocks noGrp="1"/>
          </p:cNvSpPr>
          <p:nvPr>
            <p:ph idx="1"/>
          </p:nvPr>
        </p:nvSpPr>
        <p:spPr/>
        <p:txBody>
          <a:bodyPr>
            <a:normAutofit fontScale="77500" lnSpcReduction="20000"/>
          </a:bodyPr>
          <a:lstStyle/>
          <a:p>
            <a:r>
              <a:rPr lang="en-US" sz="3600" b="1" u="sng" dirty="0">
                <a:latin typeface="Times New Roman" panose="02020603050405020304" pitchFamily="18" charset="0"/>
                <a:cs typeface="Times New Roman" panose="02020603050405020304" pitchFamily="18" charset="0"/>
              </a:rPr>
              <a:t>Domain</a:t>
            </a:r>
            <a:r>
              <a:rPr lang="en-US" sz="3600" dirty="0">
                <a:latin typeface="Times New Roman" panose="02020603050405020304" pitchFamily="18" charset="0"/>
                <a:cs typeface="Times New Roman" panose="02020603050405020304" pitchFamily="18" charset="0"/>
              </a:rPr>
              <a:t> - </a:t>
            </a:r>
            <a:r>
              <a:rPr lang="en-US" sz="2800" dirty="0">
                <a:latin typeface="Times New Roman" panose="02020603050405020304" pitchFamily="18" charset="0"/>
                <a:cs typeface="Times New Roman" panose="02020603050405020304" pitchFamily="18" charset="0"/>
              </a:rPr>
              <a:t>Insurance Analysis</a:t>
            </a:r>
          </a:p>
          <a:p>
            <a:r>
              <a:rPr lang="en-US" sz="3600" b="1" u="sng" dirty="0">
                <a:latin typeface="Times New Roman" panose="02020603050405020304" pitchFamily="18" charset="0"/>
                <a:cs typeface="Times New Roman" panose="02020603050405020304" pitchFamily="18" charset="0"/>
              </a:rPr>
              <a:t>Tools Used</a:t>
            </a:r>
            <a:r>
              <a:rPr lang="en-US" sz="36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Excel, Tableau, Power BI, MY SQL .</a:t>
            </a:r>
          </a:p>
          <a:p>
            <a:r>
              <a:rPr lang="en-US" sz="3600" b="1" u="sng" dirty="0">
                <a:latin typeface="Times New Roman" panose="02020603050405020304" pitchFamily="18" charset="0"/>
                <a:cs typeface="Times New Roman" panose="02020603050405020304" pitchFamily="18" charset="0"/>
              </a:rPr>
              <a:t>Business Problem</a:t>
            </a:r>
            <a:r>
              <a:rPr lang="en-US" sz="3600" b="1"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The insurance dashboard may lack visibility into key</a:t>
            </a:r>
          </a:p>
          <a:p>
            <a:pPr marL="0" indent="0">
              <a:buNone/>
            </a:pPr>
            <a:r>
              <a:rPr lang="en-US" sz="2800" dirty="0">
                <a:latin typeface="Times New Roman" panose="02020603050405020304" pitchFamily="18" charset="0"/>
                <a:cs typeface="Times New Roman" panose="02020603050405020304" pitchFamily="18" charset="0"/>
              </a:rPr>
              <a:t>   risk indicators like high claim ratios, low policy retention, or underperforming</a:t>
            </a:r>
          </a:p>
          <a:p>
            <a:pPr marL="0" indent="0">
              <a:buNone/>
            </a:pPr>
            <a:r>
              <a:rPr lang="en-US" sz="2800" dirty="0">
                <a:latin typeface="Times New Roman" panose="02020603050405020304" pitchFamily="18" charset="0"/>
                <a:cs typeface="Times New Roman" panose="02020603050405020304" pitchFamily="18" charset="0"/>
              </a:rPr>
              <a:t>   products, which could mask critical business issues.</a:t>
            </a:r>
          </a:p>
          <a:p>
            <a:r>
              <a:rPr lang="en-US" sz="3600" b="1" u="sng" dirty="0">
                <a:latin typeface="Times New Roman" panose="02020603050405020304" pitchFamily="18" charset="0"/>
                <a:cs typeface="Times New Roman" panose="02020603050405020304" pitchFamily="18" charset="0"/>
              </a:rPr>
              <a:t>Goal</a:t>
            </a:r>
            <a:r>
              <a:rPr lang="en-US" sz="3600" dirty="0">
                <a:latin typeface="Times New Roman" panose="02020603050405020304" pitchFamily="18" charset="0"/>
                <a:cs typeface="Times New Roman" panose="02020603050405020304" pitchFamily="18" charset="0"/>
              </a:rPr>
              <a:t> - </a:t>
            </a:r>
            <a:r>
              <a:rPr lang="en-US" sz="2800" dirty="0">
                <a:latin typeface="Times New Roman" panose="02020603050405020304" pitchFamily="18" charset="0"/>
                <a:cs typeface="Times New Roman" panose="02020603050405020304" pitchFamily="18" charset="0"/>
              </a:rPr>
              <a:t>The goal can be to optimize profitability and risk management by</a:t>
            </a:r>
          </a:p>
          <a:p>
            <a:pPr marL="0" indent="0">
              <a:buNone/>
            </a:pPr>
            <a:r>
              <a:rPr lang="en-US" sz="2800" dirty="0">
                <a:latin typeface="Times New Roman" panose="02020603050405020304" pitchFamily="18" charset="0"/>
                <a:cs typeface="Times New Roman" panose="02020603050405020304" pitchFamily="18" charset="0"/>
              </a:rPr>
              <a:t>   improving claim processing efficiency, increasing policy retention, and</a:t>
            </a:r>
          </a:p>
          <a:p>
            <a:pPr marL="0" indent="0">
              <a:buNone/>
            </a:pPr>
            <a:r>
              <a:rPr lang="en-US" sz="2800" dirty="0">
                <a:latin typeface="Times New Roman" panose="02020603050405020304" pitchFamily="18" charset="0"/>
                <a:cs typeface="Times New Roman" panose="02020603050405020304" pitchFamily="18" charset="0"/>
              </a:rPr>
              <a:t>   identifying underperforming insurance products.</a:t>
            </a:r>
            <a:endParaRPr lang="en-US" sz="36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DB3A9C7-9590-94EB-70F8-F96FD327C18A}"/>
              </a:ext>
            </a:extLst>
          </p:cNvPr>
          <p:cNvPicPr>
            <a:picLocks noChangeAspect="1"/>
          </p:cNvPicPr>
          <p:nvPr/>
        </p:nvPicPr>
        <p:blipFill>
          <a:blip r:embed="rId2"/>
          <a:stretch>
            <a:fillRect/>
          </a:stretch>
        </p:blipFill>
        <p:spPr>
          <a:xfrm>
            <a:off x="10843160" y="944263"/>
            <a:ext cx="1012509" cy="1012509"/>
          </a:xfrm>
          <a:prstGeom prst="rect">
            <a:avLst/>
          </a:prstGeom>
        </p:spPr>
      </p:pic>
    </p:spTree>
    <p:extLst>
      <p:ext uri="{BB962C8B-B14F-4D97-AF65-F5344CB8AC3E}">
        <p14:creationId xmlns:p14="http://schemas.microsoft.com/office/powerpoint/2010/main" val="191350208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40648-0019-4E9C-2A95-6499B577D4D5}"/>
              </a:ext>
            </a:extLst>
          </p:cNvPr>
          <p:cNvSpPr>
            <a:spLocks noGrp="1"/>
          </p:cNvSpPr>
          <p:nvPr>
            <p:ph type="title"/>
          </p:nvPr>
        </p:nvSpPr>
        <p:spPr>
          <a:xfrm>
            <a:off x="551793" y="753228"/>
            <a:ext cx="9742389" cy="1080938"/>
          </a:xfrm>
        </p:spPr>
        <p:txBody>
          <a:bodyPr>
            <a:normAutofit/>
          </a:bodyPr>
          <a:lstStyle/>
          <a:p>
            <a:r>
              <a:rPr lang="en-US" sz="4800" dirty="0">
                <a:latin typeface="Times New Roman" panose="02020603050405020304" pitchFamily="18" charset="0"/>
                <a:cs typeface="Times New Roman" panose="02020603050405020304" pitchFamily="18" charset="0"/>
              </a:rPr>
              <a:t>Data Overview:</a:t>
            </a:r>
            <a:endParaRPr lang="en-IN"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9938FF2-8F83-E608-A5FA-A5DC3409EF3A}"/>
              </a:ext>
            </a:extLst>
          </p:cNvPr>
          <p:cNvSpPr>
            <a:spLocks noGrp="1"/>
          </p:cNvSpPr>
          <p:nvPr>
            <p:ph idx="1"/>
          </p:nvPr>
        </p:nvSpPr>
        <p:spPr>
          <a:xfrm>
            <a:off x="315311" y="2336872"/>
            <a:ext cx="10389476" cy="3953569"/>
          </a:xfrm>
        </p:spPr>
        <p:txBody>
          <a:bodyPr/>
          <a:lstStyle/>
          <a:p>
            <a:r>
              <a:rPr lang="en-US" sz="2600" b="1" dirty="0">
                <a:latin typeface="Times New Roman" panose="02020603050405020304" pitchFamily="18" charset="0"/>
                <a:cs typeface="Times New Roman" panose="02020603050405020304" pitchFamily="18" charset="0"/>
              </a:rPr>
              <a:t>Files</a:t>
            </a:r>
            <a:r>
              <a:rPr lang="en-US" sz="2600" dirty="0">
                <a:latin typeface="Times New Roman" panose="02020603050405020304" pitchFamily="18" charset="0"/>
                <a:cs typeface="Times New Roman" panose="02020603050405020304" pitchFamily="18" charset="0"/>
              </a:rPr>
              <a:t> : brokerage, fees, Individual Budgets, invoice, Meeting, Opportunity, Policy Data .</a:t>
            </a:r>
          </a:p>
          <a:p>
            <a:r>
              <a:rPr lang="en-US" sz="2600" b="1" dirty="0">
                <a:latin typeface="Times New Roman" panose="02020603050405020304" pitchFamily="18" charset="0"/>
                <a:cs typeface="Times New Roman" panose="02020603050405020304" pitchFamily="18" charset="0"/>
              </a:rPr>
              <a:t>Size</a:t>
            </a:r>
            <a:r>
              <a:rPr lang="en-US" sz="2600" dirty="0">
                <a:latin typeface="Times New Roman" panose="02020603050405020304" pitchFamily="18" charset="0"/>
                <a:cs typeface="Times New Roman" panose="02020603050405020304" pitchFamily="18" charset="0"/>
              </a:rPr>
              <a:t> :~ 26,278 Rows across all files along with their sheets .</a:t>
            </a:r>
          </a:p>
          <a:p>
            <a:r>
              <a:rPr lang="en-US" sz="2600" b="1" dirty="0">
                <a:latin typeface="Times New Roman" panose="02020603050405020304" pitchFamily="18" charset="0"/>
                <a:cs typeface="Times New Roman" panose="02020603050405020304" pitchFamily="18" charset="0"/>
              </a:rPr>
              <a:t>Key Columns </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Account_Exe_ID</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Income_Class</a:t>
            </a:r>
            <a:r>
              <a:rPr lang="en-US" sz="2600" dirty="0">
                <a:latin typeface="Times New Roman" panose="02020603050405020304" pitchFamily="18" charset="0"/>
                <a:cs typeface="Times New Roman" panose="02020603050405020304" pitchFamily="18" charset="0"/>
              </a:rPr>
              <a:t>, Stage .</a:t>
            </a:r>
          </a:p>
          <a:p>
            <a:r>
              <a:rPr lang="en-US" sz="2600" b="1" dirty="0">
                <a:latin typeface="Times New Roman" panose="02020603050405020304" pitchFamily="18" charset="0"/>
                <a:cs typeface="Times New Roman" panose="02020603050405020304" pitchFamily="18" charset="0"/>
              </a:rPr>
              <a:t>Aggregations</a:t>
            </a:r>
            <a:r>
              <a:rPr lang="en-US" sz="2600" dirty="0">
                <a:latin typeface="Times New Roman" panose="02020603050405020304" pitchFamily="18" charset="0"/>
                <a:cs typeface="Times New Roman" panose="02020603050405020304" pitchFamily="18" charset="0"/>
              </a:rPr>
              <a:t> : Total Amount(Brokerage) ₹6.67 Cr, Total Amount(Fees) ₹5.14 lakh, Total Amount(Invoice) ₹1.22 Cr, Premium Amount ₹14.31 Cr, Revenue Amount ₹68.78 lakh.</a:t>
            </a:r>
          </a:p>
          <a:p>
            <a:endParaRPr lang="en-IN" dirty="0"/>
          </a:p>
        </p:txBody>
      </p:sp>
      <p:pic>
        <p:nvPicPr>
          <p:cNvPr id="5" name="Picture 4">
            <a:extLst>
              <a:ext uri="{FF2B5EF4-FFF2-40B4-BE49-F238E27FC236}">
                <a16:creationId xmlns:a16="http://schemas.microsoft.com/office/drawing/2014/main" id="{8D021610-AD5B-5629-9DE8-958E3B47F6F6}"/>
              </a:ext>
            </a:extLst>
          </p:cNvPr>
          <p:cNvPicPr>
            <a:picLocks noChangeAspect="1"/>
          </p:cNvPicPr>
          <p:nvPr/>
        </p:nvPicPr>
        <p:blipFill>
          <a:blip r:embed="rId2"/>
          <a:stretch>
            <a:fillRect/>
          </a:stretch>
        </p:blipFill>
        <p:spPr>
          <a:xfrm>
            <a:off x="10843160" y="944263"/>
            <a:ext cx="1012509" cy="1012509"/>
          </a:xfrm>
          <a:prstGeom prst="rect">
            <a:avLst/>
          </a:prstGeom>
        </p:spPr>
      </p:pic>
    </p:spTree>
    <p:extLst>
      <p:ext uri="{BB962C8B-B14F-4D97-AF65-F5344CB8AC3E}">
        <p14:creationId xmlns:p14="http://schemas.microsoft.com/office/powerpoint/2010/main" val="427765356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B955A-A6A3-6BF5-4309-B08ADC99AC1A}"/>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Objectives-KPIs:</a:t>
            </a:r>
            <a:endParaRPr lang="en-IN" sz="4400" dirty="0">
              <a:latin typeface="Times New Roman" panose="02020603050405020304" pitchFamily="18" charset="0"/>
              <a:cs typeface="Times New Roman" panose="02020603050405020304" pitchFamily="18" charset="0"/>
            </a:endParaRPr>
          </a:p>
        </p:txBody>
      </p:sp>
      <p:pic>
        <p:nvPicPr>
          <p:cNvPr id="13" name="Content Placeholder 12">
            <a:extLst>
              <a:ext uri="{FF2B5EF4-FFF2-40B4-BE49-F238E27FC236}">
                <a16:creationId xmlns:a16="http://schemas.microsoft.com/office/drawing/2014/main" id="{B46C65A7-7211-47B7-45D1-3EA240908463}"/>
              </a:ext>
            </a:extLst>
          </p:cNvPr>
          <p:cNvPicPr>
            <a:picLocks noGrp="1" noChangeAspect="1"/>
          </p:cNvPicPr>
          <p:nvPr>
            <p:ph idx="1"/>
          </p:nvPr>
        </p:nvPicPr>
        <p:blipFill>
          <a:blip r:embed="rId2"/>
          <a:stretch>
            <a:fillRect/>
          </a:stretch>
        </p:blipFill>
        <p:spPr>
          <a:xfrm>
            <a:off x="10815145" y="909294"/>
            <a:ext cx="1072055" cy="1072055"/>
          </a:xfrm>
        </p:spPr>
      </p:pic>
      <p:sp>
        <p:nvSpPr>
          <p:cNvPr id="4" name="TextBox 3">
            <a:extLst>
              <a:ext uri="{FF2B5EF4-FFF2-40B4-BE49-F238E27FC236}">
                <a16:creationId xmlns:a16="http://schemas.microsoft.com/office/drawing/2014/main" id="{7883F985-020F-7C06-CA48-32B527A8B7A0}"/>
              </a:ext>
            </a:extLst>
          </p:cNvPr>
          <p:cNvSpPr txBox="1"/>
          <p:nvPr/>
        </p:nvSpPr>
        <p:spPr>
          <a:xfrm>
            <a:off x="680321" y="2161513"/>
            <a:ext cx="9740686" cy="4401205"/>
          </a:xfrm>
          <a:prstGeom prst="rect">
            <a:avLst/>
          </a:prstGeom>
          <a:noFill/>
        </p:spPr>
        <p:txBody>
          <a:bodyPr wrap="square">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 of Invoice by Account Executive</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Yearly Meeting Count</a:t>
            </a:r>
          </a:p>
          <a:p>
            <a:r>
              <a:rPr lang="en-US" sz="2800" dirty="0">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Cross Sell-Target, Achieve, new</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New-Target, </a:t>
            </a:r>
            <a:r>
              <a:rPr lang="en-US" sz="2800" dirty="0" err="1">
                <a:latin typeface="Times New Roman" panose="02020603050405020304" pitchFamily="18" charset="0"/>
                <a:cs typeface="Times New Roman" panose="02020603050405020304" pitchFamily="18" charset="0"/>
              </a:rPr>
              <a:t>Achive</a:t>
            </a:r>
            <a:r>
              <a:rPr lang="en-US" sz="2800" dirty="0">
                <a:latin typeface="Times New Roman" panose="02020603050405020304" pitchFamily="18" charset="0"/>
                <a:cs typeface="Times New Roman" panose="02020603050405020304" pitchFamily="18" charset="0"/>
              </a:rPr>
              <a:t>, new</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Renewal-Target, Achieve , new</a:t>
            </a:r>
          </a:p>
          <a:p>
            <a:r>
              <a:rPr lang="en-US" sz="2800" dirty="0">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Stage Funnel by Revenue</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No of meeting By Account Executive</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Top Open Opportunity</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799765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EBA55-C7D0-FDC8-11B7-864356254AA5}"/>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Process:</a:t>
            </a:r>
            <a:endParaRPr lang="en-IN"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3FE5668-6126-7032-2B1B-3D20E298CAC7}"/>
              </a:ext>
            </a:extLst>
          </p:cNvPr>
          <p:cNvSpPr>
            <a:spLocks noGrp="1"/>
          </p:cNvSpPr>
          <p:nvPr>
            <p:ph idx="1"/>
          </p:nvPr>
        </p:nvSpPr>
        <p:spPr/>
        <p:txBody>
          <a:bodyPr>
            <a:normAutofit fontScale="92500" lnSpcReduction="10000"/>
          </a:bodyPr>
          <a:lstStyle/>
          <a:p>
            <a:r>
              <a:rPr lang="en-US" sz="3200" dirty="0">
                <a:latin typeface="Times New Roman" panose="02020603050405020304" pitchFamily="18" charset="0"/>
                <a:cs typeface="Times New Roman" panose="02020603050405020304" pitchFamily="18" charset="0"/>
              </a:rPr>
              <a:t>Data Collections.</a:t>
            </a:r>
          </a:p>
          <a:p>
            <a:r>
              <a:rPr lang="en-US" sz="3200" dirty="0">
                <a:latin typeface="Times New Roman" panose="02020603050405020304" pitchFamily="18" charset="0"/>
                <a:cs typeface="Times New Roman" panose="02020603050405020304" pitchFamily="18" charset="0"/>
              </a:rPr>
              <a:t>Data Cleaning: Replacing Null Values, Deleting Columns, Merging Columns.</a:t>
            </a:r>
          </a:p>
          <a:p>
            <a:r>
              <a:rPr lang="en-US" sz="3200" dirty="0">
                <a:latin typeface="Times New Roman" panose="02020603050405020304" pitchFamily="18" charset="0"/>
                <a:cs typeface="Times New Roman" panose="02020603050405020304" pitchFamily="18" charset="0"/>
              </a:rPr>
              <a:t>Data Modelling: Build the relationship between 2 tables.</a:t>
            </a:r>
          </a:p>
          <a:p>
            <a:r>
              <a:rPr lang="en-US" sz="3200" dirty="0">
                <a:latin typeface="Times New Roman" panose="02020603050405020304" pitchFamily="18" charset="0"/>
                <a:cs typeface="Times New Roman" panose="02020603050405020304" pitchFamily="18" charset="0"/>
              </a:rPr>
              <a:t> Data Transformation: Created new metrics.</a:t>
            </a:r>
          </a:p>
          <a:p>
            <a:r>
              <a:rPr lang="en-US" sz="3200" dirty="0">
                <a:latin typeface="Times New Roman" panose="02020603050405020304" pitchFamily="18" charset="0"/>
                <a:cs typeface="Times New Roman" panose="02020603050405020304" pitchFamily="18" charset="0"/>
              </a:rPr>
              <a:t> Visualization: Power BI, Tableau, Excel, SQL.</a:t>
            </a:r>
          </a:p>
          <a:p>
            <a:r>
              <a:rPr lang="en-US" sz="3200" dirty="0">
                <a:latin typeface="Times New Roman" panose="02020603050405020304" pitchFamily="18" charset="0"/>
                <a:cs typeface="Times New Roman" panose="02020603050405020304" pitchFamily="18" charset="0"/>
              </a:rPr>
              <a:t> Insight Extraction.</a:t>
            </a:r>
          </a:p>
          <a:p>
            <a:endParaRPr lang="en-US" sz="32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EB9ECAE-2619-A01C-8A12-A9C1A2E2F88D}"/>
              </a:ext>
            </a:extLst>
          </p:cNvPr>
          <p:cNvPicPr>
            <a:picLocks noChangeAspect="1"/>
          </p:cNvPicPr>
          <p:nvPr/>
        </p:nvPicPr>
        <p:blipFill>
          <a:blip r:embed="rId2"/>
          <a:stretch>
            <a:fillRect/>
          </a:stretch>
        </p:blipFill>
        <p:spPr>
          <a:xfrm>
            <a:off x="10843160" y="960029"/>
            <a:ext cx="1012509" cy="1012509"/>
          </a:xfrm>
          <a:prstGeom prst="rect">
            <a:avLst/>
          </a:prstGeom>
        </p:spPr>
      </p:pic>
    </p:spTree>
    <p:extLst>
      <p:ext uri="{BB962C8B-B14F-4D97-AF65-F5344CB8AC3E}">
        <p14:creationId xmlns:p14="http://schemas.microsoft.com/office/powerpoint/2010/main" val="426921426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87F34-3415-214A-B881-4C4BC4C8522A}"/>
              </a:ext>
            </a:extLst>
          </p:cNvPr>
          <p:cNvSpPr>
            <a:spLocks noGrp="1"/>
          </p:cNvSpPr>
          <p:nvPr>
            <p:ph type="title"/>
          </p:nvPr>
        </p:nvSpPr>
        <p:spPr/>
        <p:txBody>
          <a:bodyPr/>
          <a:lstStyle/>
          <a:p>
            <a:r>
              <a:rPr lang="en-US" sz="4800" dirty="0">
                <a:latin typeface="Times New Roman" panose="02020603050405020304" pitchFamily="18" charset="0"/>
                <a:cs typeface="Times New Roman" panose="02020603050405020304" pitchFamily="18" charset="0"/>
              </a:rPr>
              <a:t>Meeting Analysis</a:t>
            </a:r>
            <a:r>
              <a:rPr lang="en-US" dirty="0"/>
              <a:t>:</a:t>
            </a:r>
            <a:endParaRPr lang="en-IN" dirty="0"/>
          </a:p>
        </p:txBody>
      </p:sp>
      <p:sp>
        <p:nvSpPr>
          <p:cNvPr id="9" name="Rectangle 1">
            <a:extLst>
              <a:ext uri="{FF2B5EF4-FFF2-40B4-BE49-F238E27FC236}">
                <a16:creationId xmlns:a16="http://schemas.microsoft.com/office/drawing/2014/main" id="{9A298EA7-C63E-0726-99AA-A68E907F85F9}"/>
              </a:ext>
            </a:extLst>
          </p:cNvPr>
          <p:cNvSpPr>
            <a:spLocks noGrp="1" noChangeArrowheads="1"/>
          </p:cNvSpPr>
          <p:nvPr>
            <p:ph sz="half" idx="1"/>
          </p:nvPr>
        </p:nvSpPr>
        <p:spPr bwMode="auto">
          <a:xfrm>
            <a:off x="144292" y="1488125"/>
            <a:ext cx="572048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Abhinav Shivam conducted the highest number of meetings (7),followed by Vinay with 5. Most other executives held between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to 4 meetings, indicating a moderate distribution of activity.</a:t>
            </a:r>
          </a:p>
        </p:txBody>
      </p:sp>
      <p:pic>
        <p:nvPicPr>
          <p:cNvPr id="11" name="Picture 10">
            <a:extLst>
              <a:ext uri="{FF2B5EF4-FFF2-40B4-BE49-F238E27FC236}">
                <a16:creationId xmlns:a16="http://schemas.microsoft.com/office/drawing/2014/main" id="{3982478E-E7EC-B0D0-77E8-AC1471C099BA}"/>
              </a:ext>
            </a:extLst>
          </p:cNvPr>
          <p:cNvPicPr>
            <a:picLocks noChangeAspect="1"/>
          </p:cNvPicPr>
          <p:nvPr/>
        </p:nvPicPr>
        <p:blipFill>
          <a:blip r:embed="rId2"/>
          <a:stretch>
            <a:fillRect/>
          </a:stretch>
        </p:blipFill>
        <p:spPr>
          <a:xfrm>
            <a:off x="488732" y="2238703"/>
            <a:ext cx="4020206" cy="2380593"/>
          </a:xfrm>
          <a:prstGeom prst="rect">
            <a:avLst/>
          </a:prstGeom>
        </p:spPr>
      </p:pic>
      <p:sp>
        <p:nvSpPr>
          <p:cNvPr id="12" name="Rectangle 2">
            <a:extLst>
              <a:ext uri="{FF2B5EF4-FFF2-40B4-BE49-F238E27FC236}">
                <a16:creationId xmlns:a16="http://schemas.microsoft.com/office/drawing/2014/main" id="{DAD1F8D2-DC8E-1B1D-D220-8B59F1C2D880}"/>
              </a:ext>
            </a:extLst>
          </p:cNvPr>
          <p:cNvSpPr>
            <a:spLocks noGrp="1" noChangeArrowheads="1"/>
          </p:cNvSpPr>
          <p:nvPr>
            <p:ph sz="half" idx="2"/>
          </p:nvPr>
        </p:nvSpPr>
        <p:spPr bwMode="auto">
          <a:xfrm>
            <a:off x="6096000" y="1612769"/>
            <a:ext cx="6096000"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number of meetings significantly increased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from 3 in 2019 to 31 in 2020, indicating a sharp rise in engagement or activity.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suggests improved efforts or expansion during 2020.</a:t>
            </a:r>
          </a:p>
        </p:txBody>
      </p:sp>
      <p:pic>
        <p:nvPicPr>
          <p:cNvPr id="14" name="Picture 13">
            <a:extLst>
              <a:ext uri="{FF2B5EF4-FFF2-40B4-BE49-F238E27FC236}">
                <a16:creationId xmlns:a16="http://schemas.microsoft.com/office/drawing/2014/main" id="{730A1AE5-DA27-1E2D-C694-D545F8B3B8F5}"/>
              </a:ext>
            </a:extLst>
          </p:cNvPr>
          <p:cNvPicPr>
            <a:picLocks noChangeAspect="1"/>
          </p:cNvPicPr>
          <p:nvPr/>
        </p:nvPicPr>
        <p:blipFill>
          <a:blip r:embed="rId3"/>
          <a:stretch>
            <a:fillRect/>
          </a:stretch>
        </p:blipFill>
        <p:spPr>
          <a:xfrm>
            <a:off x="6459857" y="2343319"/>
            <a:ext cx="4481411" cy="2171359"/>
          </a:xfrm>
          <a:prstGeom prst="rect">
            <a:avLst/>
          </a:prstGeom>
        </p:spPr>
      </p:pic>
      <p:pic>
        <p:nvPicPr>
          <p:cNvPr id="16" name="Picture 15">
            <a:extLst>
              <a:ext uri="{FF2B5EF4-FFF2-40B4-BE49-F238E27FC236}">
                <a16:creationId xmlns:a16="http://schemas.microsoft.com/office/drawing/2014/main" id="{8B5E8D86-9412-7888-2B47-F57C7B4032B8}"/>
              </a:ext>
            </a:extLst>
          </p:cNvPr>
          <p:cNvPicPr>
            <a:picLocks noChangeAspect="1"/>
          </p:cNvPicPr>
          <p:nvPr/>
        </p:nvPicPr>
        <p:blipFill>
          <a:blip r:embed="rId4"/>
          <a:stretch>
            <a:fillRect/>
          </a:stretch>
        </p:blipFill>
        <p:spPr>
          <a:xfrm>
            <a:off x="10843160" y="960029"/>
            <a:ext cx="1012509" cy="1012509"/>
          </a:xfrm>
          <a:prstGeom prst="rect">
            <a:avLst/>
          </a:prstGeom>
        </p:spPr>
      </p:pic>
    </p:spTree>
    <p:extLst>
      <p:ext uri="{BB962C8B-B14F-4D97-AF65-F5344CB8AC3E}">
        <p14:creationId xmlns:p14="http://schemas.microsoft.com/office/powerpoint/2010/main" val="2571900696"/>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5D554-BFE8-F71B-9AF6-55842C4C786B}"/>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Income Class Analysis:</a:t>
            </a:r>
            <a:endParaRPr lang="en-IN" sz="4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BED14F0-D94E-BCA0-7DBA-3BF7F3E2A873}"/>
              </a:ext>
            </a:extLst>
          </p:cNvPr>
          <p:cNvSpPr>
            <a:spLocks noGrp="1"/>
          </p:cNvSpPr>
          <p:nvPr>
            <p:ph type="body" idx="1"/>
          </p:nvPr>
        </p:nvSpPr>
        <p:spPr/>
        <p:txBody>
          <a:bodyPr/>
          <a:lstStyle/>
          <a:p>
            <a:endParaRPr lang="en-IN" dirty="0"/>
          </a:p>
        </p:txBody>
      </p:sp>
      <p:sp>
        <p:nvSpPr>
          <p:cNvPr id="5" name="Text Placeholder 4">
            <a:extLst>
              <a:ext uri="{FF2B5EF4-FFF2-40B4-BE49-F238E27FC236}">
                <a16:creationId xmlns:a16="http://schemas.microsoft.com/office/drawing/2014/main" id="{619C86DD-5B40-EFB8-AAA1-CC45DE9D0CB5}"/>
              </a:ext>
            </a:extLst>
          </p:cNvPr>
          <p:cNvSpPr>
            <a:spLocks noGrp="1"/>
          </p:cNvSpPr>
          <p:nvPr>
            <p:ph type="body" sz="quarter" idx="3"/>
          </p:nvPr>
        </p:nvSpPr>
        <p:spPr/>
        <p:txBody>
          <a:bodyPr/>
          <a:lstStyle/>
          <a:p>
            <a:endParaRPr lang="en-IN"/>
          </a:p>
        </p:txBody>
      </p:sp>
      <p:sp>
        <p:nvSpPr>
          <p:cNvPr id="7" name="Text Placeholder 6">
            <a:extLst>
              <a:ext uri="{FF2B5EF4-FFF2-40B4-BE49-F238E27FC236}">
                <a16:creationId xmlns:a16="http://schemas.microsoft.com/office/drawing/2014/main" id="{7709C557-C866-40CB-7D22-A118DBBB7410}"/>
              </a:ext>
            </a:extLst>
          </p:cNvPr>
          <p:cNvSpPr>
            <a:spLocks noGrp="1"/>
          </p:cNvSpPr>
          <p:nvPr>
            <p:ph type="body" sz="quarter" idx="13"/>
          </p:nvPr>
        </p:nvSpPr>
        <p:spPr/>
        <p:txBody>
          <a:bodyPr/>
          <a:lstStyle/>
          <a:p>
            <a:endParaRPr lang="en-IN"/>
          </a:p>
        </p:txBody>
      </p:sp>
      <p:sp>
        <p:nvSpPr>
          <p:cNvPr id="9" name="Rectangle 1">
            <a:extLst>
              <a:ext uri="{FF2B5EF4-FFF2-40B4-BE49-F238E27FC236}">
                <a16:creationId xmlns:a16="http://schemas.microsoft.com/office/drawing/2014/main" id="{AB839690-3464-D44D-CB95-7DFFE3F6A3ED}"/>
              </a:ext>
            </a:extLst>
          </p:cNvPr>
          <p:cNvSpPr>
            <a:spLocks noGrp="1" noChangeArrowheads="1"/>
          </p:cNvSpPr>
          <p:nvPr>
            <p:ph type="body" sz="half" idx="15"/>
          </p:nvPr>
        </p:nvSpPr>
        <p:spPr bwMode="auto">
          <a:xfrm>
            <a:off x="283779" y="2540441"/>
            <a:ext cx="3446245" cy="38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cross-sell target was 35M, but only 3M was achieved and 20M invoiced. This indicates a significant gap in both a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chievementand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conversion toward the target</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11" name="Picture 10">
            <a:extLst>
              <a:ext uri="{FF2B5EF4-FFF2-40B4-BE49-F238E27FC236}">
                <a16:creationId xmlns:a16="http://schemas.microsoft.com/office/drawing/2014/main" id="{5D8C72DB-7741-5A1C-E765-BD7FB1A0A8C3}"/>
              </a:ext>
            </a:extLst>
          </p:cNvPr>
          <p:cNvPicPr>
            <a:picLocks noChangeAspect="1"/>
          </p:cNvPicPr>
          <p:nvPr/>
        </p:nvPicPr>
        <p:blipFill>
          <a:blip r:embed="rId2"/>
          <a:stretch>
            <a:fillRect/>
          </a:stretch>
        </p:blipFill>
        <p:spPr>
          <a:xfrm>
            <a:off x="475432" y="2336873"/>
            <a:ext cx="2945685" cy="1967113"/>
          </a:xfrm>
          <a:prstGeom prst="rect">
            <a:avLst/>
          </a:prstGeom>
        </p:spPr>
      </p:pic>
      <p:sp>
        <p:nvSpPr>
          <p:cNvPr id="12" name="Rectangle 2">
            <a:extLst>
              <a:ext uri="{FF2B5EF4-FFF2-40B4-BE49-F238E27FC236}">
                <a16:creationId xmlns:a16="http://schemas.microsoft.com/office/drawing/2014/main" id="{550E3383-78C5-9B4C-CDD8-991F51421286}"/>
              </a:ext>
            </a:extLst>
          </p:cNvPr>
          <p:cNvSpPr>
            <a:spLocks noGrp="1" noChangeArrowheads="1"/>
          </p:cNvSpPr>
          <p:nvPr>
            <p:ph type="body" sz="half" idx="16"/>
          </p:nvPr>
        </p:nvSpPr>
        <p:spPr bwMode="auto">
          <a:xfrm>
            <a:off x="3945470" y="2540443"/>
            <a:ext cx="3446245" cy="38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the new sales, the target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was 35M, but only 1M was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achieved while 20M was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invoiced. This reflects a major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Shortfall</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achievement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despite moderate invoicing.</a:t>
            </a:r>
          </a:p>
        </p:txBody>
      </p:sp>
      <p:pic>
        <p:nvPicPr>
          <p:cNvPr id="14" name="Picture 13">
            <a:extLst>
              <a:ext uri="{FF2B5EF4-FFF2-40B4-BE49-F238E27FC236}">
                <a16:creationId xmlns:a16="http://schemas.microsoft.com/office/drawing/2014/main" id="{2A954BBB-5E2F-4208-D4A7-F22EED365774}"/>
              </a:ext>
            </a:extLst>
          </p:cNvPr>
          <p:cNvPicPr>
            <a:picLocks noChangeAspect="1"/>
          </p:cNvPicPr>
          <p:nvPr/>
        </p:nvPicPr>
        <p:blipFill>
          <a:blip r:embed="rId3"/>
          <a:stretch>
            <a:fillRect/>
          </a:stretch>
        </p:blipFill>
        <p:spPr>
          <a:xfrm>
            <a:off x="3955069" y="2355844"/>
            <a:ext cx="3172663" cy="1948142"/>
          </a:xfrm>
          <a:prstGeom prst="rect">
            <a:avLst/>
          </a:prstGeom>
        </p:spPr>
      </p:pic>
      <p:sp>
        <p:nvSpPr>
          <p:cNvPr id="15" name="Rectangle 3">
            <a:extLst>
              <a:ext uri="{FF2B5EF4-FFF2-40B4-BE49-F238E27FC236}">
                <a16:creationId xmlns:a16="http://schemas.microsoft.com/office/drawing/2014/main" id="{AD2580A5-84F8-4D69-C03A-E87E33E9BD79}"/>
              </a:ext>
            </a:extLst>
          </p:cNvPr>
          <p:cNvSpPr>
            <a:spLocks noGrp="1" noChangeArrowheads="1"/>
          </p:cNvSpPr>
          <p:nvPr>
            <p:ph type="body" sz="half" idx="17"/>
          </p:nvPr>
        </p:nvSpPr>
        <p:spPr bwMode="auto">
          <a:xfrm>
            <a:off x="7224157" y="2525053"/>
            <a:ext cx="4492412" cy="39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the renewal category, the target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was 35M, but only 8M was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achieved and 12M invoiced.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shows underperformance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both achievement and invoicing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relative to the set goal.</a:t>
            </a:r>
          </a:p>
        </p:txBody>
      </p:sp>
      <p:pic>
        <p:nvPicPr>
          <p:cNvPr id="17" name="Picture 16">
            <a:extLst>
              <a:ext uri="{FF2B5EF4-FFF2-40B4-BE49-F238E27FC236}">
                <a16:creationId xmlns:a16="http://schemas.microsoft.com/office/drawing/2014/main" id="{238D9F84-EE5A-C740-9780-91629FDBC2E3}"/>
              </a:ext>
            </a:extLst>
          </p:cNvPr>
          <p:cNvPicPr>
            <a:picLocks noChangeAspect="1"/>
          </p:cNvPicPr>
          <p:nvPr/>
        </p:nvPicPr>
        <p:blipFill>
          <a:blip r:embed="rId4"/>
          <a:stretch>
            <a:fillRect/>
          </a:stretch>
        </p:blipFill>
        <p:spPr>
          <a:xfrm>
            <a:off x="7615804" y="2336873"/>
            <a:ext cx="3650910" cy="1967113"/>
          </a:xfrm>
          <a:prstGeom prst="rect">
            <a:avLst/>
          </a:prstGeom>
        </p:spPr>
      </p:pic>
      <p:pic>
        <p:nvPicPr>
          <p:cNvPr id="18" name="Picture 17">
            <a:extLst>
              <a:ext uri="{FF2B5EF4-FFF2-40B4-BE49-F238E27FC236}">
                <a16:creationId xmlns:a16="http://schemas.microsoft.com/office/drawing/2014/main" id="{3035F4A3-1DE2-67ED-B7C0-ACD0BDD7FB67}"/>
              </a:ext>
            </a:extLst>
          </p:cNvPr>
          <p:cNvPicPr>
            <a:picLocks noChangeAspect="1"/>
          </p:cNvPicPr>
          <p:nvPr/>
        </p:nvPicPr>
        <p:blipFill>
          <a:blip r:embed="rId5"/>
          <a:stretch>
            <a:fillRect/>
          </a:stretch>
        </p:blipFill>
        <p:spPr>
          <a:xfrm>
            <a:off x="10843160" y="960029"/>
            <a:ext cx="1012509" cy="1012509"/>
          </a:xfrm>
          <a:prstGeom prst="rect">
            <a:avLst/>
          </a:prstGeom>
        </p:spPr>
      </p:pic>
    </p:spTree>
    <p:extLst>
      <p:ext uri="{BB962C8B-B14F-4D97-AF65-F5344CB8AC3E}">
        <p14:creationId xmlns:p14="http://schemas.microsoft.com/office/powerpoint/2010/main" val="2206280652"/>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A00CA-B8CE-1245-F628-EFAB56B0CD92}"/>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Invoice And Opportunity Analysis:</a:t>
            </a:r>
            <a:endParaRPr lang="en-IN" sz="4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930B7C0-1D84-ED49-05DD-BD2C9075146D}"/>
              </a:ext>
            </a:extLst>
          </p:cNvPr>
          <p:cNvPicPr>
            <a:picLocks noChangeAspect="1"/>
          </p:cNvPicPr>
          <p:nvPr/>
        </p:nvPicPr>
        <p:blipFill>
          <a:blip r:embed="rId2"/>
          <a:stretch>
            <a:fillRect/>
          </a:stretch>
        </p:blipFill>
        <p:spPr>
          <a:xfrm>
            <a:off x="268015" y="2052174"/>
            <a:ext cx="3499944" cy="1933845"/>
          </a:xfrm>
          <a:prstGeom prst="rect">
            <a:avLst/>
          </a:prstGeom>
        </p:spPr>
      </p:pic>
      <p:sp>
        <p:nvSpPr>
          <p:cNvPr id="5" name="Rectangle 1">
            <a:extLst>
              <a:ext uri="{FF2B5EF4-FFF2-40B4-BE49-F238E27FC236}">
                <a16:creationId xmlns:a16="http://schemas.microsoft.com/office/drawing/2014/main" id="{CDA572E3-DB7F-C122-FF4F-D41C9C73BC03}"/>
              </a:ext>
            </a:extLst>
          </p:cNvPr>
          <p:cNvSpPr>
            <a:spLocks noChangeArrowheads="1"/>
          </p:cNvSpPr>
          <p:nvPr/>
        </p:nvSpPr>
        <p:spPr bwMode="auto">
          <a:xfrm>
            <a:off x="268015" y="4080916"/>
            <a:ext cx="3499944"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Divya Dhingra led with 63 invoices, followed by Ankita Shah and Vidit Shah with 36 and 27 respectively. Most other account executives had significantly fewer invoices, indicating a heavy skew in performance.</a:t>
            </a:r>
          </a:p>
        </p:txBody>
      </p:sp>
      <p:pic>
        <p:nvPicPr>
          <p:cNvPr id="7" name="Picture 6">
            <a:extLst>
              <a:ext uri="{FF2B5EF4-FFF2-40B4-BE49-F238E27FC236}">
                <a16:creationId xmlns:a16="http://schemas.microsoft.com/office/drawing/2014/main" id="{FD9B7964-2F0D-A88B-74DA-FA43FBFCEAD0}"/>
              </a:ext>
            </a:extLst>
          </p:cNvPr>
          <p:cNvPicPr>
            <a:picLocks noChangeAspect="1"/>
          </p:cNvPicPr>
          <p:nvPr/>
        </p:nvPicPr>
        <p:blipFill>
          <a:blip r:embed="rId3"/>
          <a:stretch>
            <a:fillRect/>
          </a:stretch>
        </p:blipFill>
        <p:spPr>
          <a:xfrm>
            <a:off x="4209393" y="2052174"/>
            <a:ext cx="3358055" cy="1933845"/>
          </a:xfrm>
          <a:prstGeom prst="rect">
            <a:avLst/>
          </a:prstGeom>
        </p:spPr>
      </p:pic>
      <p:sp>
        <p:nvSpPr>
          <p:cNvPr id="8" name="Rectangle 2">
            <a:extLst>
              <a:ext uri="{FF2B5EF4-FFF2-40B4-BE49-F238E27FC236}">
                <a16:creationId xmlns:a16="http://schemas.microsoft.com/office/drawing/2014/main" id="{0EB2BE38-520D-0A8C-EFE4-30970976B099}"/>
              </a:ext>
            </a:extLst>
          </p:cNvPr>
          <p:cNvSpPr>
            <a:spLocks noChangeArrowheads="1"/>
          </p:cNvSpPr>
          <p:nvPr/>
        </p:nvSpPr>
        <p:spPr bwMode="auto">
          <a:xfrm>
            <a:off x="4209393" y="4092849"/>
            <a:ext cx="3739243"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funnel shows a sharp drop in revenue from 6M at the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"Qualify Opportunity" stage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just 1M in "Negotiate," and 0M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"Propose Solution." This indicates major leakage in progressing leads through the sales pipeline.</a:t>
            </a:r>
          </a:p>
        </p:txBody>
      </p:sp>
      <p:pic>
        <p:nvPicPr>
          <p:cNvPr id="10" name="Picture 9">
            <a:extLst>
              <a:ext uri="{FF2B5EF4-FFF2-40B4-BE49-F238E27FC236}">
                <a16:creationId xmlns:a16="http://schemas.microsoft.com/office/drawing/2014/main" id="{9FC9172B-08C7-47CD-A5CE-CE6D46C46DAF}"/>
              </a:ext>
            </a:extLst>
          </p:cNvPr>
          <p:cNvPicPr>
            <a:picLocks noChangeAspect="1"/>
          </p:cNvPicPr>
          <p:nvPr/>
        </p:nvPicPr>
        <p:blipFill>
          <a:blip r:embed="rId4"/>
          <a:stretch>
            <a:fillRect/>
          </a:stretch>
        </p:blipFill>
        <p:spPr>
          <a:xfrm>
            <a:off x="7948635" y="2052174"/>
            <a:ext cx="3528661" cy="1933845"/>
          </a:xfrm>
          <a:prstGeom prst="rect">
            <a:avLst/>
          </a:prstGeom>
        </p:spPr>
      </p:pic>
      <p:sp>
        <p:nvSpPr>
          <p:cNvPr id="11" name="Rectangle 3">
            <a:extLst>
              <a:ext uri="{FF2B5EF4-FFF2-40B4-BE49-F238E27FC236}">
                <a16:creationId xmlns:a16="http://schemas.microsoft.com/office/drawing/2014/main" id="{EC5C2F6A-0822-BD11-28AA-DADA7BD7C776}"/>
              </a:ext>
            </a:extLst>
          </p:cNvPr>
          <p:cNvSpPr>
            <a:spLocks noChangeArrowheads="1"/>
          </p:cNvSpPr>
          <p:nvPr/>
        </p:nvSpPr>
        <p:spPr bwMode="auto">
          <a:xfrm>
            <a:off x="8090525" y="4080915"/>
            <a:ext cx="352866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top 5 open opportunities range from 0.30M to 0.40M in value, with DB-Mega Policy and EL-Group Mediclaim leading at 0.40M each. These represent key prospects that could significantly impact revenue if closed.</a:t>
            </a:r>
          </a:p>
        </p:txBody>
      </p:sp>
      <p:pic>
        <p:nvPicPr>
          <p:cNvPr id="12" name="Picture 11">
            <a:extLst>
              <a:ext uri="{FF2B5EF4-FFF2-40B4-BE49-F238E27FC236}">
                <a16:creationId xmlns:a16="http://schemas.microsoft.com/office/drawing/2014/main" id="{C2FB382D-7A41-006C-C8CF-39EA111F5C2F}"/>
              </a:ext>
            </a:extLst>
          </p:cNvPr>
          <p:cNvPicPr>
            <a:picLocks noChangeAspect="1"/>
          </p:cNvPicPr>
          <p:nvPr/>
        </p:nvPicPr>
        <p:blipFill>
          <a:blip r:embed="rId5"/>
          <a:stretch>
            <a:fillRect/>
          </a:stretch>
        </p:blipFill>
        <p:spPr>
          <a:xfrm>
            <a:off x="10843160" y="960029"/>
            <a:ext cx="1012509" cy="1012509"/>
          </a:xfrm>
          <a:prstGeom prst="rect">
            <a:avLst/>
          </a:prstGeom>
        </p:spPr>
      </p:pic>
    </p:spTree>
    <p:extLst>
      <p:ext uri="{BB962C8B-B14F-4D97-AF65-F5344CB8AC3E}">
        <p14:creationId xmlns:p14="http://schemas.microsoft.com/office/powerpoint/2010/main" val="1672710020"/>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4DFA-EE57-01AD-7161-2E447FE8597C}"/>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Recommendations And Insights:</a:t>
            </a:r>
            <a:endParaRPr lang="en-IN"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C1C0D24-32C3-AAFE-51AE-25B94ED8613B}"/>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Renewal segment is outperforming with 150.23% achievement, while New and Cross Sell segments lag behind their targets.</a:t>
            </a:r>
          </a:p>
          <a:p>
            <a:r>
              <a:rPr lang="en-US" dirty="0">
                <a:latin typeface="Times New Roman" panose="02020603050405020304" pitchFamily="18" charset="0"/>
                <a:cs typeface="Times New Roman" panose="02020603050405020304" pitchFamily="18" charset="0"/>
              </a:rPr>
              <a:t>Focus should shift to improving New and Cross Sell strategies, especially invoice conversion, to balance overall performance.</a:t>
            </a:r>
          </a:p>
          <a:p>
            <a:r>
              <a:rPr lang="en-US" dirty="0">
                <a:latin typeface="Times New Roman" panose="02020603050405020304" pitchFamily="18" charset="0"/>
                <a:cs typeface="Times New Roman" panose="02020603050405020304" pitchFamily="18" charset="0"/>
              </a:rPr>
              <a:t>Most opportunities are concentrated in Fire and Employee Benefits, indicating a strong product focus.</a:t>
            </a:r>
          </a:p>
          <a:p>
            <a:r>
              <a:rPr lang="en-US" dirty="0">
                <a:latin typeface="Times New Roman" panose="02020603050405020304" pitchFamily="18" charset="0"/>
                <a:cs typeface="Times New Roman" panose="02020603050405020304" pitchFamily="18" charset="0"/>
              </a:rPr>
              <a:t>However, the Stage Funnel shows a sharp drop from "Quality Opportunity" to "Propose Solution," suggesting a need to improve conversion tactics in mid-funnel stages</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9948464-AC54-187B-8066-2F027FB04087}"/>
              </a:ext>
            </a:extLst>
          </p:cNvPr>
          <p:cNvPicPr>
            <a:picLocks noChangeAspect="1"/>
          </p:cNvPicPr>
          <p:nvPr/>
        </p:nvPicPr>
        <p:blipFill>
          <a:blip r:embed="rId2"/>
          <a:stretch>
            <a:fillRect/>
          </a:stretch>
        </p:blipFill>
        <p:spPr>
          <a:xfrm>
            <a:off x="10843160" y="944263"/>
            <a:ext cx="1012509" cy="1012509"/>
          </a:xfrm>
          <a:prstGeom prst="rect">
            <a:avLst/>
          </a:prstGeom>
        </p:spPr>
      </p:pic>
    </p:spTree>
    <p:extLst>
      <p:ext uri="{BB962C8B-B14F-4D97-AF65-F5344CB8AC3E}">
        <p14:creationId xmlns:p14="http://schemas.microsoft.com/office/powerpoint/2010/main" val="252845954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C15B7-9138-9172-197F-72C9840104E8}"/>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Conclusion:</a:t>
            </a:r>
            <a:endParaRPr lang="en-IN"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312DFFD-7B59-8181-3005-E61EA523A3C6}"/>
              </a:ext>
            </a:extLst>
          </p:cNvPr>
          <p:cNvSpPr>
            <a:spLocks noGrp="1"/>
          </p:cNvSpPr>
          <p:nvPr>
            <p:ph idx="1"/>
          </p:nvPr>
        </p:nvSpPr>
        <p:spPr/>
        <p:txBody>
          <a:bodyPr/>
          <a:lstStyle/>
          <a:p>
            <a:r>
              <a:rPr lang="en-US" sz="2800" dirty="0">
                <a:latin typeface="Times New Roman" panose="02020603050405020304" pitchFamily="18" charset="0"/>
                <a:cs typeface="Times New Roman" panose="02020603050405020304" pitchFamily="18" charset="0"/>
              </a:rPr>
              <a:t>In Conclusion, The Dashboard is focused on monitoring key insurance metrics like Claims, Premiums, and Policies, but may lack deeper insights into performance issues such as High claim ratios, Low policy retention, or Regional risk trends.</a:t>
            </a:r>
          </a:p>
          <a:p>
            <a:r>
              <a:rPr lang="en-US" sz="2800" dirty="0">
                <a:latin typeface="Times New Roman" panose="02020603050405020304" pitchFamily="18" charset="0"/>
                <a:cs typeface="Times New Roman" panose="02020603050405020304" pitchFamily="18" charset="0"/>
              </a:rPr>
              <a:t>To drive better decisions, the Dashboard could benefit from more visible KPIs related to Efficiency, Profitability, and Risk Management.</a:t>
            </a:r>
            <a:endParaRPr lang="en-IN" sz="2800"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0DF85E72-7689-36C8-D166-8CDE401999E1}"/>
              </a:ext>
            </a:extLst>
          </p:cNvPr>
          <p:cNvPicPr>
            <a:picLocks noChangeAspect="1"/>
          </p:cNvPicPr>
          <p:nvPr/>
        </p:nvPicPr>
        <p:blipFill>
          <a:blip r:embed="rId2"/>
          <a:stretch>
            <a:fillRect/>
          </a:stretch>
        </p:blipFill>
        <p:spPr>
          <a:xfrm>
            <a:off x="10843160" y="944263"/>
            <a:ext cx="1012509" cy="1012509"/>
          </a:xfrm>
          <a:prstGeom prst="rect">
            <a:avLst/>
          </a:prstGeom>
        </p:spPr>
      </p:pic>
    </p:spTree>
    <p:extLst>
      <p:ext uri="{BB962C8B-B14F-4D97-AF65-F5344CB8AC3E}">
        <p14:creationId xmlns:p14="http://schemas.microsoft.com/office/powerpoint/2010/main" val="295695293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047DE-078C-026E-9843-E770822CA00C}"/>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Power BI Report:</a:t>
            </a:r>
            <a:endParaRPr lang="en-IN" sz="44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F1982ED2-043E-C77A-7B80-C3FF9BEB2FA7}"/>
              </a:ext>
            </a:extLst>
          </p:cNvPr>
          <p:cNvPicPr>
            <a:picLocks noGrp="1" noChangeAspect="1"/>
          </p:cNvPicPr>
          <p:nvPr>
            <p:ph idx="1"/>
          </p:nvPr>
        </p:nvPicPr>
        <p:blipFill>
          <a:blip r:embed="rId2"/>
          <a:stretch>
            <a:fillRect/>
          </a:stretch>
        </p:blipFill>
        <p:spPr>
          <a:xfrm>
            <a:off x="394138" y="2033753"/>
            <a:ext cx="10436772" cy="4635062"/>
          </a:xfrm>
        </p:spPr>
      </p:pic>
      <p:pic>
        <p:nvPicPr>
          <p:cNvPr id="6" name="Picture 5">
            <a:extLst>
              <a:ext uri="{FF2B5EF4-FFF2-40B4-BE49-F238E27FC236}">
                <a16:creationId xmlns:a16="http://schemas.microsoft.com/office/drawing/2014/main" id="{D7276ED7-361F-D80B-9CF5-90EAAADBE130}"/>
              </a:ext>
            </a:extLst>
          </p:cNvPr>
          <p:cNvPicPr>
            <a:picLocks noChangeAspect="1"/>
          </p:cNvPicPr>
          <p:nvPr/>
        </p:nvPicPr>
        <p:blipFill>
          <a:blip r:embed="rId3"/>
          <a:stretch>
            <a:fillRect/>
          </a:stretch>
        </p:blipFill>
        <p:spPr>
          <a:xfrm>
            <a:off x="10830910" y="921450"/>
            <a:ext cx="1012509" cy="1012509"/>
          </a:xfrm>
          <a:prstGeom prst="rect">
            <a:avLst/>
          </a:prstGeom>
        </p:spPr>
      </p:pic>
    </p:spTree>
    <p:extLst>
      <p:ext uri="{BB962C8B-B14F-4D97-AF65-F5344CB8AC3E}">
        <p14:creationId xmlns:p14="http://schemas.microsoft.com/office/powerpoint/2010/main" val="132807522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B0893-A3E9-D354-657E-8F09454CB6B1}"/>
              </a:ext>
            </a:extLst>
          </p:cNvPr>
          <p:cNvSpPr>
            <a:spLocks noGrp="1"/>
          </p:cNvSpPr>
          <p:nvPr>
            <p:ph type="title"/>
          </p:nvPr>
        </p:nvSpPr>
        <p:spPr/>
        <p:txBody>
          <a:bodyPr>
            <a:normAutofit/>
          </a:bodyPr>
          <a:lstStyle/>
          <a:p>
            <a:r>
              <a:rPr lang="en-US" sz="4800" dirty="0">
                <a:latin typeface="Times New Roman" panose="02020603050405020304" pitchFamily="18" charset="0"/>
                <a:cs typeface="Times New Roman" panose="02020603050405020304" pitchFamily="18" charset="0"/>
              </a:rPr>
              <a:t>Tableau Report:</a:t>
            </a:r>
            <a:endParaRPr lang="en-IN" sz="4800" dirty="0">
              <a:latin typeface="Times New Roman" panose="02020603050405020304" pitchFamily="18" charset="0"/>
              <a:cs typeface="Times New Roman" panose="02020603050405020304" pitchFamily="18" charset="0"/>
            </a:endParaRPr>
          </a:p>
        </p:txBody>
      </p:sp>
      <p:pic>
        <p:nvPicPr>
          <p:cNvPr id="4" name="Content Placeholder 7">
            <a:extLst>
              <a:ext uri="{FF2B5EF4-FFF2-40B4-BE49-F238E27FC236}">
                <a16:creationId xmlns:a16="http://schemas.microsoft.com/office/drawing/2014/main" id="{07BFDB9F-6213-6315-F2F7-DDC1F30C0CF0}"/>
              </a:ext>
            </a:extLst>
          </p:cNvPr>
          <p:cNvPicPr>
            <a:picLocks noGrp="1" noChangeAspect="1"/>
          </p:cNvPicPr>
          <p:nvPr>
            <p:ph idx="1"/>
          </p:nvPr>
        </p:nvPicPr>
        <p:blipFill>
          <a:blip r:embed="rId2"/>
          <a:stretch>
            <a:fillRect/>
          </a:stretch>
        </p:blipFill>
        <p:spPr>
          <a:xfrm>
            <a:off x="268014" y="2017986"/>
            <a:ext cx="10610193" cy="4587766"/>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06ECCE20-5195-3E30-D73D-6B8100D3DE43}"/>
              </a:ext>
            </a:extLst>
          </p:cNvPr>
          <p:cNvPicPr>
            <a:picLocks noChangeAspect="1"/>
          </p:cNvPicPr>
          <p:nvPr/>
        </p:nvPicPr>
        <p:blipFill>
          <a:blip r:embed="rId3"/>
          <a:stretch>
            <a:fillRect/>
          </a:stretch>
        </p:blipFill>
        <p:spPr>
          <a:xfrm>
            <a:off x="10878207" y="1024759"/>
            <a:ext cx="1012509" cy="926058"/>
          </a:xfrm>
          <a:prstGeom prst="rect">
            <a:avLst/>
          </a:prstGeom>
        </p:spPr>
      </p:pic>
    </p:spTree>
    <p:extLst>
      <p:ext uri="{BB962C8B-B14F-4D97-AF65-F5344CB8AC3E}">
        <p14:creationId xmlns:p14="http://schemas.microsoft.com/office/powerpoint/2010/main" val="2031904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B8842-BBEF-F07B-88A7-1C83B095484D}"/>
              </a:ext>
            </a:extLst>
          </p:cNvPr>
          <p:cNvSpPr>
            <a:spLocks noGrp="1"/>
          </p:cNvSpPr>
          <p:nvPr>
            <p:ph type="title"/>
          </p:nvPr>
        </p:nvSpPr>
        <p:spPr/>
        <p:txBody>
          <a:bodyPr>
            <a:normAutofit/>
          </a:bodyPr>
          <a:lstStyle/>
          <a:p>
            <a:r>
              <a:rPr lang="en-US" sz="4800" dirty="0">
                <a:latin typeface="Times New Roman" panose="02020603050405020304" pitchFamily="18" charset="0"/>
                <a:cs typeface="Times New Roman" panose="02020603050405020304" pitchFamily="18" charset="0"/>
              </a:rPr>
              <a:t>Excel Report:</a:t>
            </a:r>
            <a:endParaRPr lang="en-IN" sz="48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5A20AF01-9821-CBFD-E822-6C827E6441E4}"/>
              </a:ext>
            </a:extLst>
          </p:cNvPr>
          <p:cNvPicPr>
            <a:picLocks noGrp="1" noChangeAspect="1"/>
          </p:cNvPicPr>
          <p:nvPr>
            <p:ph idx="1"/>
          </p:nvPr>
        </p:nvPicPr>
        <p:blipFill>
          <a:blip r:embed="rId2"/>
          <a:stretch>
            <a:fillRect/>
          </a:stretch>
        </p:blipFill>
        <p:spPr>
          <a:xfrm>
            <a:off x="394138" y="2033751"/>
            <a:ext cx="10247585" cy="4461641"/>
          </a:xfrm>
        </p:spPr>
      </p:pic>
      <p:pic>
        <p:nvPicPr>
          <p:cNvPr id="7" name="Picture 6">
            <a:extLst>
              <a:ext uri="{FF2B5EF4-FFF2-40B4-BE49-F238E27FC236}">
                <a16:creationId xmlns:a16="http://schemas.microsoft.com/office/drawing/2014/main" id="{640443AA-5A38-CB69-B5A5-A684FE0A5ABF}"/>
              </a:ext>
            </a:extLst>
          </p:cNvPr>
          <p:cNvPicPr>
            <a:picLocks noChangeAspect="1"/>
          </p:cNvPicPr>
          <p:nvPr/>
        </p:nvPicPr>
        <p:blipFill>
          <a:blip r:embed="rId3"/>
          <a:stretch>
            <a:fillRect/>
          </a:stretch>
        </p:blipFill>
        <p:spPr>
          <a:xfrm>
            <a:off x="10878207" y="1024759"/>
            <a:ext cx="1012509" cy="926058"/>
          </a:xfrm>
          <a:prstGeom prst="rect">
            <a:avLst/>
          </a:prstGeom>
        </p:spPr>
      </p:pic>
    </p:spTree>
    <p:extLst>
      <p:ext uri="{BB962C8B-B14F-4D97-AF65-F5344CB8AC3E}">
        <p14:creationId xmlns:p14="http://schemas.microsoft.com/office/powerpoint/2010/main" val="1366845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989D3D-4335-177F-6690-EC7470CEDC37}"/>
              </a:ext>
            </a:extLst>
          </p:cNvPr>
          <p:cNvSpPr txBox="1"/>
          <p:nvPr/>
        </p:nvSpPr>
        <p:spPr>
          <a:xfrm>
            <a:off x="646386" y="2601310"/>
            <a:ext cx="10357945" cy="1631216"/>
          </a:xfrm>
          <a:prstGeom prst="rect">
            <a:avLst/>
          </a:prstGeom>
          <a:noFill/>
        </p:spPr>
        <p:txBody>
          <a:bodyPr wrap="square" rtlCol="0">
            <a:spAutoFit/>
          </a:bodyPr>
          <a:lstStyle/>
          <a:p>
            <a:pPr algn="ctr"/>
            <a:r>
              <a:rPr lang="en-US" sz="10000" dirty="0">
                <a:solidFill>
                  <a:schemeClr val="bg1"/>
                </a:solidFill>
                <a:latin typeface="Times New Roman" panose="02020603050405020304" pitchFamily="18" charset="0"/>
                <a:cs typeface="Times New Roman" panose="02020603050405020304" pitchFamily="18" charset="0"/>
              </a:rPr>
              <a:t>Thank You </a:t>
            </a:r>
            <a:r>
              <a:rPr lang="en-US" sz="10000" dirty="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a:t>
            </a:r>
            <a:endParaRPr lang="en-IN" sz="10000" dirty="0">
              <a:solidFill>
                <a:schemeClr val="bg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1E40BCC-07CA-85DD-EF56-FF66C530FB67}"/>
              </a:ext>
            </a:extLst>
          </p:cNvPr>
          <p:cNvPicPr>
            <a:picLocks noChangeAspect="1"/>
          </p:cNvPicPr>
          <p:nvPr/>
        </p:nvPicPr>
        <p:blipFill>
          <a:blip r:embed="rId2"/>
          <a:stretch>
            <a:fillRect/>
          </a:stretch>
        </p:blipFill>
        <p:spPr>
          <a:xfrm>
            <a:off x="10843160" y="960028"/>
            <a:ext cx="1012509" cy="1012509"/>
          </a:xfrm>
          <a:prstGeom prst="rect">
            <a:avLst/>
          </a:prstGeom>
        </p:spPr>
      </p:pic>
    </p:spTree>
    <p:extLst>
      <p:ext uri="{BB962C8B-B14F-4D97-AF65-F5344CB8AC3E}">
        <p14:creationId xmlns:p14="http://schemas.microsoft.com/office/powerpoint/2010/main" val="121682987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334</TotalTime>
  <Words>746</Words>
  <Application>Microsoft Office PowerPoint</Application>
  <PresentationFormat>Widescreen</PresentationFormat>
  <Paragraphs>123</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Times New Roman</vt:lpstr>
      <vt:lpstr>Trebuchet MS</vt:lpstr>
      <vt:lpstr>Berlin</vt:lpstr>
      <vt:lpstr>Insurance Analytics</vt:lpstr>
      <vt:lpstr>Introduction:</vt:lpstr>
      <vt:lpstr>Data Overview:</vt:lpstr>
      <vt:lpstr>Objectives-KPIs:</vt:lpstr>
      <vt:lpstr>Process:</vt:lpstr>
      <vt:lpstr>Meeting Analysis:</vt:lpstr>
      <vt:lpstr>Income Class Analysis:</vt:lpstr>
      <vt:lpstr>Invoice And Opportunity Analysis:</vt:lpstr>
      <vt:lpstr>Recommendations And Insights:</vt:lpstr>
      <vt:lpstr>Conclusion:</vt:lpstr>
      <vt:lpstr>Power BI Report:</vt:lpstr>
      <vt:lpstr>Tableau Report:</vt:lpstr>
      <vt:lpstr>Excel Report: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Madhura Malapur</dc:creator>
  <cp:lastModifiedBy>madhumalapur035@gmail.com</cp:lastModifiedBy>
  <cp:revision>9</cp:revision>
  <dcterms:created xsi:type="dcterms:W3CDTF">2025-04-13T13:51:42Z</dcterms:created>
  <dcterms:modified xsi:type="dcterms:W3CDTF">2025-04-22T06:49:12Z</dcterms:modified>
</cp:coreProperties>
</file>